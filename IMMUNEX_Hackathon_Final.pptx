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180990" y="1371600"/>
            <a:ext cx="1828800" cy="1828800"/>
          </a:xfrm>
          <a:prstGeom prst="hexagon">
            <a:avLst/>
          </a:prstGeom>
          <a:solidFill>
            <a:srgbClr val="19233C"/>
          </a:solidFill>
          <a:ln w="381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80990" y="19202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CCFF"/>
                </a:solidFill>
                <a:latin typeface="Segoe UI"/>
              </a:defRPr>
            </a:pPr>
            <a:r>
              <a:t>IMX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IMMUNEX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CFF"/>
                </a:solidFill>
                <a:latin typeface="Segoe UI"/>
              </a:defRPr>
            </a:pPr>
            <a:r>
              <a:t>Autonomous AI-Powered Cyber Resilience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ABED2"/>
                </a:solidFill>
                <a:latin typeface="Segoe UI"/>
              </a:defRPr>
            </a:pPr>
            <a:r>
              <a:t>HACKATHON PRESENTATION  •  TEAM ETAI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Critical Vulnerability of Modern Enterprise &amp; CNI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914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Reactive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Security teams wait for telemetry alerts, responding only after a systems compromise has occurred.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2011680" cy="41148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828800"/>
            <a:ext cx="2011680" cy="914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Alert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Thousands of low-context daily alerts cause fatigue, hiding actual multi-stage critical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11680" cy="41148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828800"/>
            <a:ext cx="2011680" cy="914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Static Vuln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74320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CVE prioritization relies on flat CVSS scores rather than dynamic threat actor targeting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828800"/>
            <a:ext cx="2011680" cy="41148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1828800"/>
            <a:ext cx="2011680" cy="914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Digital Twin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74320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No safe playground to model ransomware propagation or SCADA physical manipulation impact.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011680" cy="41148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011680" cy="914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Delayed SOAR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Remediation scripts run blindly without rollback guarantees, risking infrastructure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PLATFORM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Detection to Autonomous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2395728" y="3749040"/>
            <a:ext cx="100584" cy="27432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ABED2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Anomaly/Log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178808" y="3749040"/>
            <a:ext cx="100584" cy="27432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ABED2"/>
                </a:solidFill>
                <a:latin typeface="Segoe UI"/>
              </a:defRPr>
            </a:pPr>
            <a:r>
              <a:t>CORRELATE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Multi-stage Alert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61888" y="3749040"/>
            <a:ext cx="100584" cy="27432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GNN-based Attack Paths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44967" y="3749040"/>
            <a:ext cx="100584" cy="27432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SIMULATE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Digital Twin Safe Replays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528048" y="3749040"/>
            <a:ext cx="100584" cy="27432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MITIGATE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Rollback-capable SOAR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743200"/>
            <a:ext cx="1645920" cy="22860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0175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8C878"/>
                </a:solidFill>
                <a:latin typeface="Segoe UI"/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6576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Vector Feedback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IMMUNEX Closed-Loop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1. 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56032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Syslog &amp; 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8328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EDR 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20624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Threat Intel Feeds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02920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ClickHouse 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2.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6032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Threat Fusion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338328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GNN Path Predictor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20624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LSTM Sequence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1880" y="502920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Neo4j Sync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3. DIGITAL TWIN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56032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CNI Topologies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38328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Ransomware Sim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20624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SCADA Sim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502920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PageRank Centrals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4. REMEDIATION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56032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Autonomous Planner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338328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SOAR Orchestrator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420624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Transactional Rollback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5029200"/>
            <a:ext cx="2194560" cy="640080"/>
          </a:xfrm>
          <a:prstGeom prst="rect">
            <a:avLst/>
          </a:prstGeom>
          <a:solidFill>
            <a:srgbClr val="0F1428"/>
          </a:solidFill>
          <a:ln w="6350">
            <a:solidFill>
              <a:srgbClr val="AA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FAISS Feedback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CORE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Predictive Attack Forecast Engine (PAFE)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Next-Stage Prediction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GNN Node Classification: Calculates compromised likelihood for downstream assets.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LSTM Sequence Analyzer: Analyzes telemetry sequences to identify multi-stage attack patterns.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Markov Chain Transition Matrix: Models threat actor movement probability states.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Dynamic MITRE TTP Mapping: Forecasts the attacker's next logical tactics and techniques.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Real-Time Threat Intel Fusion: Intersects asset configuration with external actor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1371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Next-Asset Compromise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B4B"/>
                </a:solidFill>
                <a:latin typeface="Segoe UI"/>
              </a:defRPr>
            </a:pPr>
            <a:r>
              <a:t>87.4%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40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CRITICAL - DC Primary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54680"/>
            <a:ext cx="5303520" cy="1371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Prediction Confidence (F1 Score)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57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C878"/>
                </a:solidFill>
                <a:latin typeface="Segoe UI"/>
              </a:defRPr>
            </a:pPr>
            <a:r>
              <a:t>0.942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49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High Consistency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663440"/>
            <a:ext cx="5303520" cy="1371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Predicted MITRE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A00"/>
                </a:solidFill>
                <a:latin typeface="Segoe UI"/>
              </a:defRPr>
            </a:pPr>
            <a:r>
              <a:t>T1021.002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57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Remote Service: SMB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GRAPH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Relational Attack Graph Analytics &amp; Centralities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Topology Analysis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Blast Radius Mapping: Quantifies total asset dependencies exposed during compromise.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Choke Point Detection: Identifies critical network segments that block path progression.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PageRank Centrality: Computes high-importance asset bridges to structure defense rules.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Community Clustering: Partitions assets dynamically to isolate lateral zones.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Neo4j Enterprise Sync: Automatically mirrors local NetworkX twins into production graph stores.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Real-Time Attack Path Topology (Visual)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3657600"/>
            <a:ext cx="1005839" cy="-914400"/>
          </a:xfrm>
          <a:prstGeom prst="ellipse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3657600"/>
            <a:ext cx="1005839" cy="914400"/>
          </a:xfrm>
          <a:prstGeom prst="ellipse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79" y="2743200"/>
            <a:ext cx="1005840" cy="914400"/>
          </a:xfrm>
          <a:prstGeom prst="ellipse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79" y="4572000"/>
            <a:ext cx="1005840" cy="-914400"/>
          </a:xfrm>
          <a:prstGeom prst="ellipse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3657600"/>
            <a:ext cx="1097279" cy="45720"/>
          </a:xfrm>
          <a:prstGeom prst="ellipse">
            <a:avLst/>
          </a:prstGeom>
          <a:solidFill>
            <a:srgbClr val="00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3474720"/>
            <a:ext cx="548640" cy="54864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Host-01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2560320"/>
            <a:ext cx="548640" cy="54864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EWS-01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0" y="4389120"/>
            <a:ext cx="548640" cy="54864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OT-Switch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0" y="3474720"/>
            <a:ext cx="548640" cy="548640"/>
          </a:xfrm>
          <a:prstGeom prst="ellipse">
            <a:avLst/>
          </a:prstGeom>
          <a:solidFill>
            <a:srgbClr val="19233C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SCADA Master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0" y="3474720"/>
            <a:ext cx="548640" cy="548640"/>
          </a:xfrm>
          <a:prstGeom prst="ellipse">
            <a:avLst/>
          </a:prstGeom>
          <a:solidFill>
            <a:srgbClr val="FF4B4B"/>
          </a:solidFill>
          <a:ln w="1905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PLC-Substation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Multi-Sector Digital Twin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Energy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Simulates Modbus/DNP3 commands, tripping circuit breakers and SCADA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EG-SCADA-SRV-01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Replays lateral pivots through VPN gateways and domain controllers.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GOV-DC-01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Tracks ransomware propagation exposing medical IoT pumps and EHR storage.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200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HC-EHR-DB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Models campus cores, LMS servers, and research GPU clusters.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EDU-LMS-SRV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Telecom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Forecasts routing loops and cellular core infrastructure signaling failures.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486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TEL-CORE-RT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434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Replays attacks targeting high-frequency transaction databases.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486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Default Patient-0: FIN-DB-TX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Threat Actor Intelligence &amp;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Attribution &amp; Profiling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Campaign Correlation: Group isolated indicators into active campaign models.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Infrastructure Mapping: Resolves IP address reuse and DNS dynamic hosts.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TTP Clustering: Clusters attack patterns against MITRE ATT&amp;CK groups.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Actor Profiling: Dynamically fetches target sector intent models.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Live Threat Feed Sync: Keeps local vulnerability scoring aligned to active actors.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Tracked CNI Threat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CFF"/>
                </a:solidFill>
                <a:latin typeface="Consolas"/>
              </a:defRPr>
            </a:pPr>
            <a:r>
              <a:t>Group        | Targets       | Primary Vector     | Status</a:t>
            </a:r>
          </a:p>
          <a:p>
            <a:pPr>
              <a:spcBef>
                <a:spcPts val="1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APT29        | Gov, Energy   | OAuth Abuse        | Active</a:t>
            </a:r>
          </a:p>
          <a:p>
            <a:pPr>
              <a:spcBef>
                <a:spcPts val="1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Volt Typhoon | CNI, Power    | VPN Exploit        | Critical</a:t>
            </a:r>
          </a:p>
          <a:p>
            <a:pPr>
              <a:spcBef>
                <a:spcPts val="1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LockBit 3.0  | Healthcare    | RDP / Phishing     | High</a:t>
            </a:r>
          </a:p>
          <a:p>
            <a:pPr>
              <a:spcBef>
                <a:spcPts val="1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Lazarus Group| Finance       | Supply Chain       |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REMEDIATION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Autonomous Mitigation Planner (AMP)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Decision Matrix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Dynamic Trade-offs: Computes metrics balances between protection levels and costs.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Resource Constraint Rules: Limits plan scopes depending on engineers bandwidth.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Asset Dependency Isolation: Prioritizes host network segments to prevent pivot cascades.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Automatic Feedback: Retrains plans based on playbook performance outcomes.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Explainable Rationale: Outputs detailed mathematical proofs for each choice.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AMP Optimal Action Plan (Forensics)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C878"/>
                </a:solidFill>
                <a:latin typeface="Segoe UI"/>
              </a:defRPr>
            </a:pPr>
            <a:r>
              <a:t>1. Isolate Host 'OT-GW-01'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Risk Reduction: -64% | Cost: Low | Speed: &lt;1s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56616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00"/>
                </a:solidFill>
                <a:latin typeface="Segoe UI"/>
              </a:defRPr>
            </a:pPr>
            <a:r>
              <a:t>2. Block Protocol 'Modbus/TCP'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Risk Reduction: -22% | Cost: Med | Speed: &lt;1s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75488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Patch DC Controller CVE-2024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Risk Reduction: -94% | Cost: High | Speed: 2h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National Cyber Resilience Index (NCRI)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Measuring National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Real-Time Resilience KPI: Scores infrastructure readiness on 0-100 scales.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Dynamic Weight Modeling: Multiplies sector impacts based on dependency weights.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Strategic Trend Forecasting: Forecasts scoring changes using historical log trends.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Policy Alignment Check: Cross-checks national security requirements.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Executive Reporting: Provides CISO dashboards with single-button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BED2"/>
                </a:solidFill>
                <a:latin typeface="Segoe UI"/>
              </a:defRPr>
            </a:pPr>
            <a:r>
              <a:t>Current National Resilience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00CCFF"/>
                </a:solidFill>
                <a:latin typeface="Segoe UI"/>
              </a:defRPr>
            </a:pPr>
            <a:r>
              <a:t>82.5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C878"/>
                </a:solidFill>
                <a:latin typeface="Segoe UI"/>
              </a:defRPr>
            </a:pPr>
            <a:r>
              <a:t>STATUS: RESILIENT (Up 2.4% over 30 days)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572000"/>
            <a:ext cx="4389120" cy="100584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7091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Recommendation: Segment OT-Switch zone from IT-Domain controller networks to lift NCRI to 86.8.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TRANSPARENCY &amp;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Explainable AI (XAI) Risk Explainer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Demystifying AI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Evidence Traceability: Every PAFE prediction attaches exact logs and feed sources.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Risk Decomposition: Breaks dynamic scores down to CVSS, KEV, and actor weights.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MITRE Alignment Details: Maps suggested mitigations directly to target TTP identifiers.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Visual Graph Rationale: highlights paths traversed by simulation algorithms.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No Black Box Models: Guarantees auditor clarity for all autonomous defensive playbooks.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XAI Explanation Log (Example)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EVENT: Target DC-01 compromise probability forecasted at 87%.</a:t>
            </a:r>
          </a:p>
          <a:p>
            <a:pPr>
              <a:spcBef>
                <a:spcPts val="1200"/>
              </a:spcBef>
              <a:defRPr sz="1000">
                <a:solidFill>
                  <a:srgbClr val="AABED2"/>
                </a:solidFill>
                <a:latin typeface="Consolas"/>
              </a:defRPr>
            </a:pPr>
            <a:r>
              <a:t>EVIDENCE 1: Active Volt Typhoon actor observed targets.</a:t>
            </a:r>
          </a:p>
          <a:p>
            <a:pPr>
              <a:spcBef>
                <a:spcPts val="1200"/>
              </a:spcBef>
              <a:defRPr sz="1000">
                <a:solidFill>
                  <a:srgbClr val="AABED2"/>
                </a:solidFill>
                <a:latin typeface="Consolas"/>
              </a:defRPr>
            </a:pPr>
            <a:r>
              <a:t>EVIDENCE 2: CVE-2024-3094 vulnerability active on segment.</a:t>
            </a:r>
          </a:p>
          <a:p>
            <a:pPr>
              <a:spcBef>
                <a:spcPts val="1200"/>
              </a:spcBef>
              <a:defRPr sz="1000">
                <a:solidFill>
                  <a:srgbClr val="AABED2"/>
                </a:solidFill>
                <a:latin typeface="Consolas"/>
              </a:defRPr>
            </a:pPr>
            <a:r>
              <a:t>EVIDENCE 3: Direct network edges found between Client-01 and DC-01.</a:t>
            </a:r>
          </a:p>
          <a:p>
            <a:pPr>
              <a:spcBef>
                <a:spcPts val="1200"/>
              </a:spcBef>
              <a:defRPr sz="1000">
                <a:solidFill>
                  <a:srgbClr val="AABED2"/>
                </a:solidFill>
                <a:latin typeface="Consolas"/>
              </a:defRPr>
            </a:pPr>
            <a:r>
              <a:t>EXPLANATION: LIME coefficients: CVSS (0.35) + KEV (0.45) + Network-Hops (0.20) = 1.0. Mitigation suggested: isolate Client-01 immediately.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FEEDBACK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Cyber Learning Memory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Vector-Powered Knowledge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Incident Learning Database: Indexes mitigation outcomes in vector stores (FAISS).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Automated Retrieval: Queries similar past attacks to suggest tested playbooks.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Continuous Optimization: Tracks mitigation metrics to optimize weights.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Edge-Store Resilience: Restores database structures from localized binary caches.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Shared Defense Models: Enables secure cross-sector indicators synchronizations.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Closed-Loop Learning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1. Ingestion &amp; Anomaly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Telemetry evaluated, anomaly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38328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2. Vector Similarity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FAISS query finds matching past threat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480560"/>
            <a:ext cx="4937760" cy="91440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3. Adaptive Plan RETUNE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Mitigation weights updated by feedback memory.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IMMUNEX SOC Copilot Chat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FF"/>
                </a:solidFill>
                <a:latin typeface="Segoe UI"/>
              </a:defRPr>
            </a:pPr>
            <a:r>
              <a:t>Natural Language Security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Threat Analysis Prompts: Queries platform state using conversational English.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Automated Rule Synthesis: Automatically compiles Sigma or YARA rules from chat.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Playbook Control Queries: Inspects SOAR states and launches manual rollbacks.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MITRE Technique Summaries: Explains complex multi-stage attack steps.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• Seamless Integration: Links into enterprise messaging hubs (Slack webhook).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38912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SOC Copilot Console (Mockup)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3474720" cy="7315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ED2"/>
                </a:solidFill>
                <a:latin typeface="Segoe UI"/>
              </a:defRPr>
            </a:pPr>
            <a:r>
              <a:t>User: Is there any Volt Typhoon lateral movement threat to EG-PLC-01?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00400"/>
            <a:ext cx="4389120" cy="146304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Copilot: WARNING. GNN attack path model predicts 87.4% chance of lateral pivot through EG-DMZ-JUMP to EG-PLC-01 using Kerberos delegation.</a:t>
            </a:r>
            <a:br/>
            <a:br/>
            <a:r>
              <a:t>Mitigation suggested: run playbooks/scada_tamper.yml immediately to isolate EG-DMZ-JUMP.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4937760" cy="731520"/>
          </a:xfrm>
          <a:prstGeom prst="roundRect">
            <a:avLst/>
          </a:prstGeom>
          <a:solidFill>
            <a:srgbClr val="0F1428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Type a message or command (e.g., /mitigate eg-dmz-jump)...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PLATFORM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Enterprise Security &amp; Platform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Enforces fine-grained JWT/OAuth scope checks across all API requests and command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Cryptographic Audit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Maintains local, append-only verification databases ensuring unalterable recording of all playbook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API Versioning &amp;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Implements strict rate limits and version management to shield analytical models from DoS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Observability &amp;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Outputs metrics through Prometheus, Grafana, and Loguru pipelines, keeping track of ingestion health.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VALIDATION STATS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IMMUNEX Platform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Verification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C878"/>
                </a:solidFill>
                <a:latin typeface="Segoe UI"/>
              </a:defRPr>
            </a:pPr>
            <a:r>
              <a:t>587 / 587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Tests Passed Successfully (100%)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Detection Anomaly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CFF"/>
                </a:solidFill>
                <a:latin typeface="Segoe UI"/>
              </a:defRPr>
            </a:pPr>
            <a:r>
              <a:t>&lt; 12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Average telemetry sequence analysis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Path Prediction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48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CFF"/>
                </a:solidFill>
                <a:latin typeface="Segoe UI"/>
              </a:defRPr>
            </a:pPr>
            <a:r>
              <a:t>94.2%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F1-score across CNI topology datasets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Mean Time to 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C878"/>
                </a:solidFill>
                <a:latin typeface="Segoe UI"/>
              </a:defRPr>
            </a:pPr>
            <a:r>
              <a:t>&lt; 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SOAR playbook trigger-to-mitigation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Blast Radius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C878"/>
                </a:solidFill>
                <a:latin typeface="Segoe UI"/>
              </a:defRPr>
            </a:pPr>
            <a:r>
              <a:t>-72.4%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166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Average damage reduction under AMP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931920"/>
            <a:ext cx="32918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ED2"/>
                </a:solidFill>
                <a:latin typeface="Segoe UI"/>
              </a:defRPr>
            </a:pPr>
            <a:r>
              <a:t>Active CVE Risk Mitigation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434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C878"/>
                </a:solidFill>
                <a:latin typeface="Segoe UI"/>
              </a:defRPr>
            </a:pPr>
            <a:r>
              <a:t>-94.8%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166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Vulnerability risk drops post optimal patching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Competitive Feature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CFF"/>
                </a:solidFill>
                <a:latin typeface="Consolas"/>
              </a:defRPr>
            </a:pPr>
            <a:r>
              <a:t>Feature Capability            | SIEM/SOAR | XDR       | ASM       | IMMUNEX (AI Platform)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Dynamic Attack Graph Prediction  | No        | No        | Static    | Yes (Real-Time GNN Path)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Pluggable Digital Twin Simulator | No        | No        | No        | Yes (Sectors EG, HC, GOV)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Vulnerability Actor Context      | Static    | Static    | Partial   | Yes (KEV + Actor Target Sync)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Playbook Action Rollback Safety  | No        | No        | No        | Yes (Transactional Undo)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Cyber Learning Vector Memory     | No        | No        | No        | Yes (FAISS Index Loops)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Executive Resilience Scoring    | No        | No        | No        | Yes (Live NCRI Score)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Closed-Loop Incident Scenario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1.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Volt Typhoon credential abuse observed at firewall.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2.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Threat feed correlates IP with known active command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3.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PAFE engine forecasts 87% compromise path to classified DB.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4.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Digital Twin simulates domain controller pivot scenarios.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5.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SOAR executes sandbox isolation with rollback guards.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011680"/>
            <a:ext cx="1645920" cy="365760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21945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CFF"/>
                </a:solidFill>
                <a:latin typeface="Segoe UI"/>
              </a:defRPr>
            </a:pPr>
            <a:r>
              <a:t>6.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834640"/>
            <a:ext cx="1463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ED2"/>
                </a:solidFill>
                <a:latin typeface="Segoe UI"/>
              </a:defRPr>
            </a:pPr>
            <a:r>
              <a:t>Mitigation vector indexed in FAISS memory store for retuning.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Strategic Impact &amp; Business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Minimize Downtime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Reduces potential outage impacts by 72% across critical services (electricity, medical, telecom) under automated, fast remediations.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Optimize Budgets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Contextual risk prioritizations help security leads focus budgets on critical vulnerabilities, lowering operational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Increase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Provides unalterable, automated log trails verifying operations conform with ISO/IEC 27001 and national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CFF"/>
                </a:solidFill>
                <a:latin typeface="Segoe UI"/>
              </a:defRPr>
            </a:pPr>
            <a:r>
              <a:t>Strengthen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Provides underwriter consoles with real-time NCRI scores, qualifying enterprises for cheaper cybersecurity insurance plans.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Segoe UI"/>
              </a:defRPr>
            </a:pPr>
            <a:r>
              <a:t>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IMMUNEX Strategic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Phase 1: Q3-Q4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Federated Defense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745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Synchronizes threat actor memory models across air-gapped grids without leaking local network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28655" cy="128016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Phase 2: Q1-Q2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Hardware-in-the-Loop 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Deploys direct simulated network signals to physical industrial controllers (PLCs, RTUs).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19233C"/>
          </a:solidFill>
          <a:ln w="127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CFF"/>
                </a:solidFill>
                <a:latin typeface="Segoe UI"/>
              </a:defRPr>
            </a:pPr>
            <a:r>
              <a:t>Phase 3: Q3-Q4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Generative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920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ED2"/>
                </a:solidFill>
                <a:latin typeface="Segoe UI"/>
              </a:defRPr>
            </a:pPr>
            <a:r>
              <a:t>Generates safe, rollback-validated remediations dynamically using LLMs tuned on security records.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CFF"/>
                </a:solidFill>
                <a:latin typeface="Segoe UI"/>
              </a:defRPr>
            </a:pPr>
            <a:r>
              <a:t>The Future of Cyber Resilience Starts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IMMUNEX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ED2"/>
                </a:solidFill>
                <a:latin typeface="Segoe UI"/>
              </a:defRPr>
            </a:pPr>
            <a:r>
              <a:t>Autonomous AI-Powered Security for Modern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CFF"/>
                </a:solidFill>
                <a:latin typeface="Segoe U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